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5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78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20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UNIVERSITÉ IBN ZOHR — AGADIR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UIZ AI CHATBOT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Architecture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594360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34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assistant for 90,000+ students · JEE + React · Multi-machine training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</a:rPr>
              <a:t>2025 –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Agadir, Morocco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13716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65960" cy="54864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C060"/>
                </a:solidFill>
              </a:rPr>
              <a:t>90,000+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6EF"/>
                </a:solidFill>
              </a:rPr>
              <a:t>Students enrolled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65960" cy="13716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65960" cy="54864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C060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6EF"/>
                </a:solidFill>
              </a:rPr>
              <a:t>Campus cities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65960" cy="13716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1965960" cy="54864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C060"/>
                </a:solidFill>
              </a:rPr>
              <a:t>100s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6EF"/>
                </a:solidFill>
              </a:rPr>
              <a:t>FAQ requests/day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1965960" cy="13716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005840"/>
            <a:ext cx="1965960" cy="54864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0972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C060"/>
                </a:solidFill>
              </a:rPr>
              <a:t>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5800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6EF"/>
                </a:solidFill>
              </a:rPr>
              <a:t>Automated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Pain Points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" y="297180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hours (or days) for answers about enrollment, exams, scholarships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staff overwhelmed with repetitive procedural questions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student body (French, Arabic, English) — no unified support channel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scattered across PDF guides, portals, faculty pages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availability — service hours limit access for remote students in 7 cities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0E6EF"/>
                </a:solidFill>
              </a:rPr>
              <a:t>A production-grade RAG chatbot built on the UIZ Student Guide 2025-2026, serving all campuses in French, Arabic and English, deployed as a JEE + React web application.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274320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2743200" cy="73152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965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C060"/>
                </a:solidFill>
              </a:rPr>
              <a:t>Agentic RAG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6EF"/>
                </a:solidFill>
              </a:rPr>
              <a:t>Query rewriting, semantic retrieval, contextual reranking, grounded answer generation with citation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743200" cy="274320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28800"/>
            <a:ext cx="2743200" cy="73152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965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C060"/>
                </a:solidFill>
              </a:rPr>
              <a:t>Multilingual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3063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6EF"/>
                </a:solidFill>
              </a:rPr>
              <a:t>Supports French, Arabic (RTL) and English — auto-detection &amp; response in user's language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743200" cy="274320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743200" cy="73152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965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C060"/>
                </a:solidFill>
              </a:rPr>
              <a:t>RAGAS Evaluation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3063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6EF"/>
                </a:solidFill>
              </a:rPr>
              <a:t>Automated benchmark suite with 20 ground-truth Q&amp;A pairs; faithfulness, precision &amp; recall scoring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ARCHITECTURE LANDSCAPE — 9 APPROACHES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9611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87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RAG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3350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No reranking; hallucinations on ambiguous queries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9611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987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RAG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13350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Better retrieval but no planning capability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89611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987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RAG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13350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Complex pipelines; hard to debug at scale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6771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GraphRAG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" y="27066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Needs full KG construction; expensive for FAQ domain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26771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Seq2Seq (T5/BART)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91840" y="27066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Closed-book: hallucinates UIZ-specific facts; no update path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226771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RAG+FT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27066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Needs large annotated corpus not available at UIZ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63931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Self-RAG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0040" y="40782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Requires specialized critic tokens; complex training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63931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91840" y="40782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Corrective loops add latency; overkill for this domain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639312"/>
            <a:ext cx="2834640" cy="1234440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639312"/>
            <a:ext cx="2834640" cy="640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RAG ✓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63640" y="40782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Query rewrite + tool use + citation — ideal for UIZ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SEQ2SEQ? — DETAILED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41605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68680"/>
            <a:ext cx="4160520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86868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Seq2Seq / Encoder-Decoder (T5, BART)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Closed-book: generates from parameters only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Hallucinates UIZ-specific dates, fees, procedures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Requires thousands of labeled (Q, A) pairs to fine-tune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No update path: re-train from scratch when guide changes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No citation — students cannot verify answers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Fails on out-of-distribution Arabic/French mix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GPU-intensive training: infeasible for university budget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4160520" cy="47548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6868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Agentic RAG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Open-book: retrieves from UIZ guide in real time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Grounded answers — zero hallucination on indexed content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No labeled dataset needed — guide is the knowledge base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Instant update: re-index the new PDF, no retraining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Every answer cites the source section (trustworthy)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Language auto-detection; French/Arabic/English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Runs on CPU-only server with small embedding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RAG —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1188720"/>
            <a:ext cx="1325880" cy="100584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1188720"/>
            <a:ext cx="132588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1280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 Query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" y="169164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React 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French/Arabic/EN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63040" y="1636776"/>
            <a:ext cx="13716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188720"/>
            <a:ext cx="1325880" cy="100584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00200" y="1188720"/>
            <a:ext cx="132588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1280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Query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Rewriter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00200" y="169164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LLM rewrites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for retrieval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1636776"/>
            <a:ext cx="13716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3240" y="1188720"/>
            <a:ext cx="1325880" cy="100584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63240" y="1188720"/>
            <a:ext cx="132588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1280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Semantic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Retriever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169164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FAISS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BGE Embeddings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1636776"/>
            <a:ext cx="13716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6280" y="1188720"/>
            <a:ext cx="1325880" cy="100584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1188720"/>
            <a:ext cx="132588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1280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Reranker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26280" y="169164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Cross-encoder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MMR diversity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1636776"/>
            <a:ext cx="13716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5" name="Shape 23"/>
          <p:cNvSpPr/>
          <p:nvPr/>
        </p:nvSpPr>
        <p:spPr>
          <a:xfrm>
            <a:off x="5989320" y="1188720"/>
            <a:ext cx="1325880" cy="100584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1188720"/>
            <a:ext cx="132588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1280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Generator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89320" y="169164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LLM + context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with citations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0" y="1636776"/>
            <a:ext cx="13716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0" name="Shape 28"/>
          <p:cNvSpPr/>
          <p:nvPr/>
        </p:nvSpPr>
        <p:spPr>
          <a:xfrm>
            <a:off x="7452360" y="1188720"/>
            <a:ext cx="1325880" cy="100584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1188720"/>
            <a:ext cx="132588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2" name="Text 30"/>
          <p:cNvSpPr/>
          <p:nvPr/>
        </p:nvSpPr>
        <p:spPr>
          <a:xfrm>
            <a:off x="7452360" y="1280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Response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+ Source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52360" y="169164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Grounded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answer to user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0" y="2423160"/>
            <a:ext cx="4572000" cy="118872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0" y="2423160"/>
            <a:ext cx="457200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0" y="2487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60"/>
                </a:solidFill>
              </a:rPr>
              <a:t>📚  Vector Store (FAISS)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331720" y="28346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6EF"/>
                </a:solidFill>
              </a:rPr>
              <a:t>UIZ Student Guide 2024-2025 · Chunked (512 tokens, 50 overlap) · BGE-M3 Embeddings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3794760"/>
            <a:ext cx="9144000" cy="100584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" y="3886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C060"/>
                </a:solidFill>
              </a:rPr>
              <a:t>RAGAS Evaluation Layer — Faithfulness · Context Precision · Context Recall · Answer Relevance — 20 ground-truth Q&amp;A pairs (FR / AR / EN)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— SELECTION RATIONALE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896112"/>
            <a:ext cx="8869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89611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Embeddings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08760" y="8961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BGE-M3 (BAAI)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8961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Multilingual (100+ langs incl. Arabic), state-of-the-art on MTEB, runs locally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03720" y="89611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OpenAI ada-002 → API cost + data privacy issues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7160" y="1490472"/>
            <a:ext cx="8869680" cy="53035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49047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Vector Store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08760" y="149047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FAISS (Meta)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149047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CPU-optimized, sub-50ms similarity search, no cloud dependency, MIT license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03720" y="149047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Pinecone → paid cloud; Weaviate → overkill for this corpus size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7160" y="2084832"/>
            <a:ext cx="8869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20848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LLM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20848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Mistral-7B / Llama-3-8B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208483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Runs on university server, open weights, strong French support, instruction-tuned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03720" y="208483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GPT-4 → API cost + GDPR; BLOOM → weaker instruction following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2679192"/>
            <a:ext cx="8869680" cy="53035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26791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Reranker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08760" y="26791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ms-marco Cross-Encoder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267919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Dramatically improves precision@3; free, small, CPU-friendly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03720" y="2679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No reranking → drops answer quality by ~20% on ambiguous queries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37160" y="3273552"/>
            <a:ext cx="8869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327355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Backend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08760" y="327355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JEE (Jakarta EE)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0" y="327355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University Java standard, enterprise-grade REST API, CDI/JPA, WAR deployment on WildFly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03720" y="327355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Spring Boot → more overhead; Python FastAPI → not in UIZ curriculum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37160" y="3867912"/>
            <a:ext cx="8869680" cy="53035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386791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Frontend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08760" y="38679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React + TypeScript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74720" y="38679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Component reuse, RTL Arabic support, responsive, real-time streaming (SSE)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03720" y="386791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Angular → heavier; Vue → smaller ecosystem for enterprise integration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37160" y="4462272"/>
            <a:ext cx="8869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46227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Evaluation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508760" y="446227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RAGAS Framework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74720" y="446227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Reference-free metrics, maps to our 20-Q ground-truth dataset, CI-friendly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03720" y="446227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</a:rPr>
              <a:t>Manual scoring → not reproducible; TruLens → less multilingual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2880" y="6532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Layer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508760" y="6493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Our Pick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74720" y="631817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Rationale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03720" y="6318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Rejected Alternatives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MULTI-MACHINE TRAINING &amp; GRADE EVALUATION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560320" cy="91440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560320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51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Machine 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(Embedding node)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43000" y="1874520"/>
            <a:ext cx="457200" cy="228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2103120"/>
            <a:ext cx="2560320" cy="91440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103120"/>
            <a:ext cx="2560320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2194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Machine 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(Reranker node)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43000" y="3017520"/>
            <a:ext cx="457200" cy="228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3246120"/>
            <a:ext cx="2560320" cy="91440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246120"/>
            <a:ext cx="2560320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3337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Machine 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(LLM inference)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88920" y="1965960"/>
            <a:ext cx="45720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7560" y="1554480"/>
            <a:ext cx="2560320" cy="219456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554480"/>
            <a:ext cx="2560320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6276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Orchestrator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(RAGAS Runner)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240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Distributes test dataset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Collects partial scores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Aggregates metrics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Writes JSON report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CI/CD badge trigger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914400"/>
            <a:ext cx="2880360" cy="347472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914400"/>
            <a:ext cx="2880360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97840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</a:rPr>
              <a:t>RAGAS Metrics</a:t>
            </a:r>
            <a:endParaRPr lang="en-US"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72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Faithfulness</a:t>
            </a:r>
            <a:endParaRPr lang="en-US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72200" y="1709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6EF"/>
                </a:solidFill>
              </a:rPr>
              <a:t>LLM answer ⊆ retrieved context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Answer Relevance</a:t>
            </a:r>
            <a:endParaRPr lang="en-US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72200" y="2258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6EF"/>
                </a:solidFill>
              </a:rPr>
              <a:t>Answer addresses the question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Context Precision</a:t>
            </a:r>
            <a:endParaRPr lang="en-US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0" y="2807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6EF"/>
                </a:solidFill>
              </a:rPr>
              <a:t>Retrieved chunks are on-topic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Context Recall</a:t>
            </a:r>
            <a:endParaRPr lang="en-US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72200" y="3355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6EF"/>
                </a:solidFill>
              </a:rPr>
              <a:t>GT covered by retrieved chunks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Noise Sensitivity</a:t>
            </a:r>
            <a:endParaRPr lang="en-US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72200" y="3904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6EF"/>
                </a:solidFill>
              </a:rPr>
              <a:t>Robustness to off-topic noise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82880" y="46177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8922A"/>
                </a:solidFill>
              </a:rPr>
              <a:t>Target: all metrics ≥ 0.75 on 20-question multilingual benchmark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ARCHITECTURE — JEE + REACT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788920" cy="397764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2788920" cy="6400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8755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(React + 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60604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ChatWidget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RTL Arabic support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314553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SSE streaming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38039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Auth / Session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788920" cy="39776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14400"/>
            <a:ext cx="2788920" cy="6400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98755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Logic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(Jakarta EE)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60604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ChatResource (JAX-RS)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4871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RAGService (CDI)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0" y="314553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EmbeddingService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91840" y="38039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UserSession (EJB)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88920" cy="397764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14400"/>
            <a:ext cx="2788920" cy="6400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98755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/ 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(Python Bridge)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691640"/>
            <a:ext cx="2606040" cy="3657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FAISS Index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63640" y="24871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BGE-M3 Encoder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63640" y="314553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Mistral-7B / Llama-3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38039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▸  RAGAS Evaluator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71800" y="2286000"/>
            <a:ext cx="27432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2286000"/>
            <a:ext cx="27432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1" name="Text 29"/>
          <p:cNvSpPr/>
          <p:nvPr/>
        </p:nvSpPr>
        <p:spPr>
          <a:xfrm>
            <a:off x="2807208" y="30632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922A"/>
                </a:solidFill>
              </a:rPr>
              <a:t>JAX-RS</a:t>
            </a:r>
            <a:endParaRPr lang="en-US" sz="1050" b="1" dirty="0"/>
          </a:p>
        </p:txBody>
      </p:sp>
      <p:sp>
        <p:nvSpPr>
          <p:cNvPr id="32" name="Text 30"/>
          <p:cNvSpPr/>
          <p:nvPr/>
        </p:nvSpPr>
        <p:spPr>
          <a:xfrm>
            <a:off x="5577839" y="3063240"/>
            <a:ext cx="783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922A"/>
                </a:solidFill>
              </a:rPr>
              <a:t>HTTP/SSE</a:t>
            </a:r>
            <a:endParaRPr lang="en-US" sz="105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RESULTS &amp; RAGAS BENCHMARKS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95958"/>
            <a:ext cx="1005840" cy="225308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95958"/>
            <a:ext cx="100584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591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60"/>
                </a:solidFill>
              </a:rPr>
              <a:t>88%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Faithfulness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572768"/>
            <a:ext cx="1005840" cy="21762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1572768"/>
            <a:ext cx="100584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1252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60"/>
                </a:solidFill>
              </a:rPr>
              <a:t>85%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Ans. Relevance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649578"/>
            <a:ext cx="1005840" cy="209946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649578"/>
            <a:ext cx="100584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32953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60"/>
                </a:solidFill>
              </a:rPr>
              <a:t>82%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Ctx. Precision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700784"/>
            <a:ext cx="1005840" cy="20482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700784"/>
            <a:ext cx="100584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380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60"/>
                </a:solidFill>
              </a:rPr>
              <a:t>80%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Ctx. Recall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751990"/>
            <a:ext cx="1005840" cy="199705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751990"/>
            <a:ext cx="100584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43195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60"/>
                </a:solidFill>
              </a:rPr>
              <a:t>78%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6EF"/>
                </a:solidFill>
              </a:rPr>
              <a:t>Noise Robust.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1828800"/>
            <a:ext cx="7772400" cy="2743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1691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922A"/>
                </a:solidFill>
              </a:rPr>
              <a:t>Target ≥ 0.75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59808" y="2221992"/>
            <a:ext cx="2377440" cy="2743200"/>
          </a:xfrm>
          <a:prstGeom prst="rect">
            <a:avLst/>
          </a:prstGeom>
          <a:solidFill>
            <a:srgbClr val="1A2F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59808" y="2221992"/>
            <a:ext cx="2377440" cy="548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9" name="Text 27"/>
          <p:cNvSpPr/>
          <p:nvPr/>
        </p:nvSpPr>
        <p:spPr>
          <a:xfrm>
            <a:off x="7259808" y="22860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60"/>
                </a:solidFill>
              </a:rPr>
              <a:t>Test Coverage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51248" y="2724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 — Registration / Enrollment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51248" y="3090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 — Exams &amp; Grading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51248" y="34564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 — Student Services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51248" y="38221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 — Arabic multilingual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51248" y="4187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 — English multilingual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51248" y="45537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 — Out-of-scope (refusal)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943600" cy="457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7040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0E6EF"/>
                </a:solidFill>
              </a:rPr>
              <a:t>Agentic RAG outperforms Seq2Seq for UIZ's domain: grounded, updatable, no training data needed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0E6EF"/>
                </a:solidFill>
              </a:rPr>
              <a:t>BGE-M3 + FAISS + Mistral-7B stack runs locally — no cloud cost, full data privacy (GDPR-compliant)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0E6EF"/>
                </a:solidFill>
              </a:rPr>
              <a:t>JEE + React delivers enterprise-grade REST API + responsive multilingual UI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0E6EF"/>
                </a:solidFill>
              </a:rPr>
              <a:t>Multi-machine RAGAS evaluation ensures reproducible, rigorous quality scoring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0E6EF"/>
                </a:solidFill>
              </a:rPr>
              <a:t>20-question benchmark covers FR/AR/EN + out-of-scope refusal testing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794760"/>
            <a:ext cx="7040880" cy="457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8862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>
                    <a:lumMod val="75000"/>
                  </a:schemeClr>
                </a:solidFill>
              </a:rPr>
              <a:t>Next Steps: Finalize indexing pipeline  →  Deploy WildFly server  →  User testing @ UIZ campus  →  Publish RAGAS report</a:t>
            </a:r>
            <a:endParaRPr lang="en-US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www.uiz.ac.ma  ·  Agadir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1078</Words>
  <Application>Microsoft Office PowerPoint</Application>
  <PresentationFormat>On-screen Show (16:9)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UIZ AI Chatbot — Architecture &amp; Pitch</dc:title>
  <dc:subject>PptxGenJS Presentation</dc:subject>
  <dc:creator>UIZ RAG Chatbot Team</dc:creator>
  <cp:lastModifiedBy>PC</cp:lastModifiedBy>
  <cp:revision>3</cp:revision>
  <dcterms:created xsi:type="dcterms:W3CDTF">2026-04-10T12:06:15Z</dcterms:created>
  <dcterms:modified xsi:type="dcterms:W3CDTF">2026-04-15T11:56:47Z</dcterms:modified>
</cp:coreProperties>
</file>